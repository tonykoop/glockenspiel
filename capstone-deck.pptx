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z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svgz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Glockenspiel — Tuned Metal-Bar Idiophone Build Packet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Musical instrument documentation capstone</a:t>
            </a:r>
          </a:p>
          <a:p>
            <a:pPr lvl="0"/>
            <a:r>
              <a:rPr/>
              <a:t>Build packet: glockenspiel</a:t>
            </a:r>
          </a:p>
          <a:p>
            <a:pPr lvl="0"/>
            <a:r>
              <a:rPr/>
              <a:t>Generated: 2026-05-08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Project Intent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Build a 25-bar chromatic C5-C7 glockenspiel from the existing workbook design table, with a parallel 10-bar C-major-pentatonic art-fair variant sharing the same aluminum stock and frame jig.</a:t>
            </a:r>
          </a:p>
          <a:p>
            <a:pPr lvl="0"/>
            <a:r>
              <a:rPr/>
              <a:t>6061-T6 aluminum bars (0.25 in × 1.00 in flat stock) on a CNC-routed Black Walnut frame.</a:t>
            </a:r>
          </a:p>
          <a:p>
            <a:pPr lvl="0"/>
            <a:r>
              <a:rPr/>
              <a:t>Free-free beam acoustics, no arch undercut, no resonator tubes.</a:t>
            </a:r>
          </a:p>
          <a:p>
            <a:pPr lvl="0"/>
            <a:r>
              <a:rPr/>
              <a:t>Cord-through-node-holes mounting with rubber grommets and 1/8 in stainless support rods.</a:t>
            </a:r>
          </a:p>
          <a:p>
            <a:pPr lvl="0"/>
            <a:r>
              <a:rPr/>
              <a:t>All published lengths are first-pass cut-long targets; effective K is recalibrated from a C5/A5/C7 pilot.</a:t>
            </a:r>
          </a:p>
          <a:p>
            <a:pPr lvl="0" indent="0" marL="0">
              <a:buNone/>
            </a:pPr>
            <a:r>
              <a:rPr i="1"/>
              <a:t>Speaker notes:</a:t>
            </a:r>
            <a:r>
              <a:rPr/>
              <a:t> Read design.md before committing to dimensions or sourcing decisions. The K-calibration pilot is non-optional.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Physics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Free-Free Beam (Metal)</a:t>
            </a:r>
          </a:p>
          <a:p>
            <a:pPr lvl="0" indent="0">
              <a:buNone/>
            </a:pPr>
            <a:r>
              <a:rPr>
                <a:latin typeface="Courier"/>
              </a:rPr>
              <a:t>lambda_1 = 4.730
f_1 = (lambda_1^2 / (2*pi*L^2)) * sqrt(E*I/(rho*A))</a:t>
            </a:r>
          </a:p>
          <a:p>
            <a:pPr lvl="0" indent="0">
              <a:buNone/>
            </a:pPr>
            <a:r>
              <a:rPr>
                <a:latin typeface="Courier"/>
              </a:rPr>
              <a:t>f ~= K * t / L^2
L ~= sqrt(K * t / f)</a:t>
            </a:r>
          </a:p>
          <a:p>
            <a:pPr lvl="0" indent="0">
              <a:buNone/>
            </a:pPr>
            <a:r>
              <a:rPr>
                <a:latin typeface="Courier"/>
              </a:rPr>
              <a:t>material = 6061-T6 Aluminum
K = 204431 (imperial: t and L in inches, f in Hz)
t = 0.250 in
w = 1.000 in</a:t>
            </a:r>
          </a:p>
          <a:p>
            <a:pPr lvl="0" indent="0">
              <a:buNone/>
            </a:pPr>
            <a:r>
              <a:rPr>
                <a:latin typeface="Courier"/>
              </a:rPr>
              <a:t>K_metal = (4.730^2 / (2*pi)) * sqrt(E / (12*rho)) / 0.0254
node_1 = 0.2242 * L
node_2 = 0.7758 * L</a:t>
            </a:r>
          </a:p>
          <a:p>
            <a:pPr lvl="0" indent="0" marL="0">
              <a:buNone/>
            </a:pPr>
            <a:r>
              <a:rPr i="1"/>
              <a:t>Speaker notes:</a:t>
            </a:r>
            <a:r>
              <a:rPr/>
              <a:t> Width does NOT affect frequency. Per </a:t>
            </a:r>
            <a:r>
              <a:rPr>
                <a:latin typeface="Courier"/>
              </a:rPr>
              <a:t>references/acoustic-models.md</a:t>
            </a:r>
            <a:r>
              <a:rPr/>
              <a:t>, NAF K2 corrections, vessel Helmholtz corrections, and cantilever wood K-tables do NOT apply. The honest correction loop is per-lot K calibration from pilot measurements.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Material Decision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6061-T6 Aluminum (default): K=204431, bright bell-like, long sustain, lowest cost.</a:t>
            </a:r>
          </a:p>
          <a:p>
            <a:pPr lvl="0"/>
            <a:r>
              <a:rPr/>
              <a:t>Brass C260: K=145325, warm classic glock tone, premium cost.</a:t>
            </a:r>
          </a:p>
          <a:p>
            <a:pPr lvl="0"/>
            <a:r>
              <a:rPr/>
              <a:t>Steel 1018: K=204267 (similar to Al), harsh and very loud.</a:t>
            </a:r>
          </a:p>
          <a:p>
            <a:pPr lvl="0"/>
            <a:r>
              <a:rPr/>
              <a:t>304 Stainless: K=198770, clean modern tone, weather-resistant.</a:t>
            </a:r>
          </a:p>
          <a:p>
            <a:pPr lvl="0"/>
            <a:r>
              <a:rPr/>
              <a:t>Phosphor Bronze: K=142593, richest sustain, highest cost.</a:t>
            </a:r>
          </a:p>
          <a:p>
            <a:pPr lvl="0"/>
            <a:r>
              <a:rPr/>
              <a:t>To switch metals: replace K in </a:t>
            </a:r>
            <a:r>
              <a:rPr>
                <a:latin typeface="Courier"/>
              </a:rPr>
              <a:t>family-spec.csv</a:t>
            </a:r>
            <a:r>
              <a:rPr/>
              <a:t> and recompute </a:t>
            </a:r>
            <a:r>
              <a:rPr>
                <a:latin typeface="Courier"/>
              </a:rPr>
              <a:t>predicted_length_in = sqrt(K*t/f)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i="1"/>
              <a:t>Speaker notes:</a:t>
            </a:r>
            <a:r>
              <a:rPr/>
              <a:t> Aluminum and Steel have nearly identical K because the E/rho ratio is similar; the practical difference is mass and timbre, not length.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Bar Schedule (chromatic + pentatonic)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25 chromatic bars C5-C7 (full schedule in </a:t>
            </a:r>
            <a:r>
              <a:rPr>
                <a:latin typeface="Courier"/>
              </a:rPr>
              <a:t>family-spec.csv</a:t>
            </a:r>
            <a:r>
              <a:rPr/>
              <a:t>).</a:t>
            </a:r>
          </a:p>
          <a:p>
            <a:pPr lvl="0"/>
            <a:r>
              <a:rPr/>
              <a:t>10 pentatonic bars (C5,D5,E5,G5,A5,C6,D6,E6,G6,A6) — art-fair “no wrong notes” variant.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00"/>
                <a:gridCol w="850900"/>
                <a:gridCol w="850900"/>
                <a:gridCol w="850900"/>
                <a:gridCol w="850900"/>
                <a:gridCol w="850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MIDI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Target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Length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Node 1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Node 2 in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523.251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9.883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2.216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7.667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880.000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7.621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1.709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5.912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1046.502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6.988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1.567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5.422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1760.000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5.389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1.208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4.181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2093.005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4.941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1.108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3.834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notes:</a:t>
            </a:r>
            <a:r>
              <a:rPr/>
              <a:t> Lengths assume K = 204431. Always cut at predicted + 0.25 in trim allowance. K_eff is calibrated from pilot bars before the full run.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Mounting And 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Piano-keyboard layout: naturals (15) front row, sharps/flats (10) back row raised 0.5 in.</a:t>
            </a:r>
          </a:p>
          <a:p>
            <a:pPr lvl="0"/>
            <a:r>
              <a:rPr/>
              <a:t>Each bar drilled with 3/16 in node holes; cord captures the bar at both nodes.</a:t>
            </a:r>
          </a:p>
          <a:p>
            <a:pPr lvl="0"/>
            <a:r>
              <a:rPr/>
              <a:t>Rubber grommets seat in CNC-routed walnut pockets; durometer (Shore 30A/50A/70A) chosen via pilot.</a:t>
            </a:r>
          </a:p>
          <a:p>
            <a:pPr lvl="0"/>
            <a:r>
              <a:rPr/>
              <a:t>1/8 in stainless rod runs full row length as backup restraint (must NOT contact bar).</a:t>
            </a:r>
          </a:p>
          <a:p>
            <a:pPr lvl="0"/>
            <a:r>
              <a:rPr/>
              <a:t>Frame envelope: 33.25 in (chromatic) or 14.50 in (pentatonic) wide × ~12 in deep.</a:t>
            </a:r>
          </a:p>
          <a:p>
            <a:pPr lvl="0" indent="0" marL="0">
              <a:buNone/>
            </a:pPr>
            <a:r>
              <a:rPr i="1"/>
              <a:t>Speaker notes:</a:t>
            </a:r>
            <a:r>
              <a:rPr/>
              <a:t> Mounting damping is the structural risk that dominates sustain. See </a:t>
            </a:r>
            <a:r>
              <a:rPr>
                <a:latin typeface="Courier"/>
              </a:rPr>
              <a:t>risks.md</a:t>
            </a:r>
            <a:r>
              <a:rPr/>
              <a:t>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Hardware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Bar marking &amp; cutting: bench-top (chop saw + stop-block sled).</a:t>
            </a:r>
          </a:p>
          <a:p>
            <a:pPr lvl="0"/>
            <a:r>
              <a:rPr/>
              <a:t>Node hole drilling: drill press + V-block jig + hardwood backer.</a:t>
            </a:r>
          </a:p>
          <a:p>
            <a:pPr lvl="0"/>
            <a:r>
              <a:rPr/>
              <a:t>Bar tuning: belt sander or fine bench file, symmetric trim.</a:t>
            </a:r>
          </a:p>
          <a:p>
            <a:pPr lvl="0"/>
            <a:r>
              <a:rPr/>
              <a:t>Frame routing: CNC router (the only true CNC operation in this build).</a:t>
            </a:r>
          </a:p>
          <a:p>
            <a:pPr lvl="0"/>
            <a:r>
              <a:rPr/>
              <a:t>Mounting: cord + grommet + stainless rod, all bench-top.</a:t>
            </a:r>
          </a:p>
          <a:p>
            <a:pPr lvl="0"/>
            <a:r>
              <a:rPr/>
              <a:t>Validation: chromatic tuner (&gt;= 2 kHz), microphone for sustain logging.</a:t>
            </a:r>
          </a:p>
          <a:p>
            <a:pPr lvl="0" indent="0" marL="0">
              <a:buNone/>
            </a:pPr>
            <a:r>
              <a:rPr i="1"/>
              <a:t>Speaker notes:</a:t>
            </a:r>
            <a:r>
              <a:rPr/>
              <a:t> The frame is the only CNC step. Everything else is bench-top with simple jigs from </a:t>
            </a:r>
            <a:r>
              <a:rPr>
                <a:latin typeface="Courier"/>
              </a:rPr>
              <a:t>jig-decision.md</a:t>
            </a:r>
            <a:r>
              <a:rPr/>
              <a:t>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Use This Packet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Start with design.md for intent and assumptions.</a:t>
            </a:r>
          </a:p>
          <a:p>
            <a:pPr lvl="0"/>
            <a:r>
              <a:rPr/>
              <a:t>Use bom.csv, sourcing.csv, and cut-list.csv before buying or cutting.</a:t>
            </a:r>
          </a:p>
          <a:p>
            <a:pPr lvl="0"/>
            <a:r>
              <a:rPr/>
              <a:t>Use drawing-brief.md, drawings/, cad/, and cnc/ before machining.</a:t>
            </a:r>
          </a:p>
          <a:p>
            <a:pPr lvl="0"/>
            <a:r>
              <a:rPr/>
              <a:t>Use jig-decision.md as the shop stop/go sheet.</a:t>
            </a:r>
          </a:p>
          <a:p>
            <a:pPr lvl="0"/>
            <a:r>
              <a:rPr/>
              <a:t>Use validation.csv as the K-calibration and tuning log.</a:t>
            </a:r>
          </a:p>
          <a:p>
            <a:pPr lvl="0"/>
            <a:r>
              <a:rPr/>
              <a:t>Print the packet for shopping, shop work, and validation.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File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design.md: Project intent, governing model, material decision matrix, mounting strategy, validation plan.</a:t>
            </a:r>
          </a:p>
          <a:p>
            <a:pPr lvl="0"/>
            <a:r>
              <a:rPr/>
              <a:t>family-spec.csv: 25 chromatic + 10 pentatonic bar dimensions.</a:t>
            </a:r>
          </a:p>
          <a:p>
            <a:pPr lvl="0"/>
            <a:r>
              <a:rPr/>
              <a:t>bom.csv: Bar set + frame + hardware + mallets + tooling + measurement gear.</a:t>
            </a:r>
          </a:p>
          <a:p>
            <a:pPr lvl="0"/>
            <a:r>
              <a:rPr/>
              <a:t>sourcing.csv: Supplier candidates with all prices marked “not verified”.</a:t>
            </a:r>
          </a:p>
          <a:p>
            <a:pPr lvl="0"/>
            <a:r>
              <a:rPr/>
              <a:t>cut-list.csv: Bar stock, walnut frame stock, jig material.</a:t>
            </a:r>
          </a:p>
          <a:p>
            <a:pPr lvl="0"/>
            <a:r>
              <a:rPr/>
              <a:t>validation.csv: prebuild rows for all 35 bars + per-stage rows (flat_bar/post_trim/mounted/framed) for C5/A5/C7 pilots.</a:t>
            </a:r>
          </a:p>
          <a:p>
            <a:pPr lvl="0"/>
            <a:r>
              <a:rPr/>
              <a:t>assembly-manual.md: Pilot-first build philosophy and full bench workflow.</a:t>
            </a:r>
          </a:p>
          <a:p>
            <a:pPr lvl="0"/>
            <a:r>
              <a:rPr/>
              <a:t>supplier-rfq.md: RFQ template covering aluminum + alternates + walnut + hardware + tooling.</a:t>
            </a:r>
          </a:p>
          <a:p>
            <a:pPr lvl="0"/>
            <a:r>
              <a:rPr/>
              <a:t>drawing-brief.md: Five drawing classes with tolerances.</a:t>
            </a:r>
          </a:p>
          <a:p>
            <a:pPr lvl="0"/>
            <a:r>
              <a:rPr/>
              <a:t>visual-bom-brief.md: Image-forward BOM plate spec.</a:t>
            </a:r>
          </a:p>
          <a:p>
            <a:pPr lvl="0"/>
            <a:r>
              <a:rPr/>
              <a:t>risks.md: Acoustic / structural / ergonomic / supply / fit-finish risk register.</a:t>
            </a:r>
          </a:p>
          <a:p>
            <a:pPr lvl="0"/>
            <a:r>
              <a:rPr/>
              <a:t>photo-shotlist.md: Build-log photo plan.</a:t>
            </a:r>
          </a:p>
          <a:p>
            <a:pPr lvl="0"/>
            <a:r>
              <a:rPr/>
              <a:t>resources.md: Provenance, family context, public-safety inventory.</a:t>
            </a:r>
          </a:p>
          <a:p>
            <a:pPr lvl="0"/>
            <a:r>
              <a:rPr/>
              <a:t>jig-decision.md: Pilot fixture decisions and release gates.</a:t>
            </a:r>
          </a:p>
          <a:p>
            <a:pPr lvl="0"/>
            <a:r>
              <a:rPr/>
              <a:t>drawings/: Per-pilot bar SVGs, family-overview, frame-layout, mounting-detail, visual-bom-plate.</a:t>
            </a:r>
          </a:p>
          <a:p>
            <a:pPr lvl="0"/>
            <a:r>
              <a:rPr/>
              <a:t>cad/: OpenSCAD master + SolidWorks contract (CSV + plan).</a:t>
            </a:r>
          </a:p>
          <a:p>
            <a:pPr lvl="0"/>
            <a:r>
              <a:rPr/>
              <a:t>cnc/: cnc-plan.json, operations.csv, setup-sheet.md (frame-routing focus).</a:t>
            </a:r>
          </a:p>
          <a:p>
            <a:pPr lvl="0"/>
            <a:r>
              <a:rPr/>
              <a:t>jigs/: Pilot fixture artifacts as built.</a:t>
            </a:r>
          </a:p>
          <a:p>
            <a:pPr lvl="0"/>
            <a:r>
              <a:rPr/>
              <a:t>wolfram/: instrument-model.wl with kMetal/lBar/Manipulate/validation plot.</a:t>
            </a:r>
          </a:p>
          <a:p>
            <a:pPr lvl="0"/>
            <a:r>
              <a:rPr/>
              <a:t>site/: Build-log static site.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Family Spec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MIDI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L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Node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Node 2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523.251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9.883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2.216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7.667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C#5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554.365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9.602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2.153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7.449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587.330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9.328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2.091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7.237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659.255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8.805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1.974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6.831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783.991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8.074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1.810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6.264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880.000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7.621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1.709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5.912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1046.502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6.988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1.567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5.422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1318.510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6.226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1.396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4.830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1760.000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5.389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1.208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4.181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2093.005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4.941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1.108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3.834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notes:</a:t>
            </a:r>
            <a:r>
              <a:rPr/>
              <a:t> Full 25-bar schedule plus 10-bar pentatonic block in family-spec.csv. All values first-pass; pilot K calibration corrects them.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Receive aluminum stock and verify dimensions.</a:t>
            </a:r>
          </a:p>
          <a:p>
            <a:pPr lvl="0"/>
            <a:r>
              <a:rPr/>
              <a:t>Mark bar lengths and node positions per family-spec.csv.</a:t>
            </a:r>
          </a:p>
          <a:p>
            <a:pPr lvl="0"/>
            <a:r>
              <a:rPr/>
              <a:t>Cut bars to length (cut long by 0.25 in).</a:t>
            </a:r>
          </a:p>
          <a:p>
            <a:pPr lvl="0"/>
            <a:r>
              <a:rPr/>
              <a:t>Drill node holes on drill press with V-block jig.</a:t>
            </a:r>
          </a:p>
          <a:p>
            <a:pPr lvl="0"/>
            <a:r>
              <a:rPr/>
              <a:t>Strike-test pilot bars (C5/A5/C7) on foam supports; calibrate K_eff.</a:t>
            </a:r>
          </a:p>
          <a:p>
            <a:pPr lvl="0"/>
            <a:r>
              <a:rPr/>
              <a:t>Trim to pitch with symmetric end removal.</a:t>
            </a:r>
          </a:p>
          <a:p>
            <a:pPr lvl="0"/>
            <a:r>
              <a:rPr/>
              <a:t>CNC-route walnut frame rails and grommet pockets.</a:t>
            </a:r>
          </a:p>
          <a:p>
            <a:pPr lvl="0"/>
            <a:r>
              <a:rPr/>
              <a:t>Run mounting prototype rig with three durometer grommets.</a:t>
            </a:r>
          </a:p>
          <a:p>
            <a:pPr lvl="0"/>
            <a:r>
              <a:rPr/>
              <a:t>Assemble frame and mount all bars.</a:t>
            </a:r>
          </a:p>
          <a:p>
            <a:pPr lvl="0"/>
            <a:r>
              <a:rPr/>
              <a:t>Final validation: every bar within +/- 5 cents at soft dynamic.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Sourcing And 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Primary metal: 6061-T6 Aluminum 1/4” × 1” flat bar (~18 ft for chromatic + pentatonic + scrap).</a:t>
            </a:r>
          </a:p>
          <a:p>
            <a:pPr lvl="0"/>
            <a:r>
              <a:rPr/>
              <a:t>Frame: Black Walnut 4/4 dressed to 3/4” thick (about 6 board feet).</a:t>
            </a:r>
          </a:p>
          <a:p>
            <a:pPr lvl="0"/>
            <a:r>
              <a:rPr/>
              <a:t>Hardware: paracord, three durometer grommets, 1/8” stainless rod, rubber feet, fasteners.</a:t>
            </a:r>
          </a:p>
          <a:p>
            <a:pPr lvl="0"/>
            <a:r>
              <a:rPr/>
              <a:t>Mallets: hard rubber (default) + brass (orchestral upgrade) + optional lexan/Delrin.</a:t>
            </a:r>
          </a:p>
          <a:p>
            <a:pPr lvl="0"/>
            <a:r>
              <a:rPr/>
              <a:t>Tooling: 1/4” downcut + 1/8” upcut router bits, 3/16” drill bit, 80T non-ferrous chop-saw blade.</a:t>
            </a:r>
          </a:p>
          <a:p>
            <a:pPr lvl="0"/>
            <a:r>
              <a:rPr/>
              <a:t>Measurement: chromatic tuner with 2 kHz+ range (Peterson StroboClip HD).</a:t>
            </a:r>
          </a:p>
          <a:p>
            <a:pPr lvl="0"/>
            <a:r>
              <a:rPr/>
              <a:t>All sourcing.csv prices marked “not verified” — verify before purchase.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Shop Packet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cut-list.csv for stock planning.</a:t>
            </a:r>
          </a:p>
          <a:p>
            <a:pPr lvl="0"/>
            <a:r>
              <a:rPr/>
              <a:t>assembly-manual.md for away-from-keyboard work.</a:t>
            </a:r>
          </a:p>
          <a:p>
            <a:pPr lvl="0"/>
            <a:r>
              <a:rPr/>
              <a:t>validation.csv for measured Hz, cents error, sustain, timbre.</a:t>
            </a:r>
          </a:p>
          <a:p>
            <a:pPr lvl="0"/>
            <a:r>
              <a:rPr/>
              <a:t>Pilot gate: don’t cut all 25 bars until C5/A5/C7 pass </a:t>
            </a:r>
            <a:r>
              <a:rPr>
                <a:latin typeface="Courier"/>
              </a:rPr>
              <a:t>flat_bar</a:t>
            </a:r>
            <a:r>
              <a:rPr/>
              <a:t>, </a:t>
            </a:r>
            <a:r>
              <a:rPr>
                <a:latin typeface="Courier"/>
              </a:rPr>
              <a:t>post_trim</a:t>
            </a:r>
            <a:r>
              <a:rPr/>
              <a:t>, </a:t>
            </a:r>
            <a:r>
              <a:rPr>
                <a:latin typeface="Courier"/>
              </a:rPr>
              <a:t>mounted</a:t>
            </a:r>
            <a:r>
              <a:rPr/>
              <a:t>, </a:t>
            </a:r>
            <a:r>
              <a:rPr>
                <a:latin typeface="Courier"/>
              </a:rPr>
              <a:t>framed</a:t>
            </a:r>
            <a:r>
              <a:rPr/>
              <a:t>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Drawings, CAD, CNC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drawing-brief.md defines required views and tolerances.</a:t>
            </a:r>
          </a:p>
          <a:p>
            <a:pPr lvl="0"/>
            <a:r>
              <a:rPr/>
              <a:t>drawings/ has three pilot bar SVGs + family-overview + frame-layout + mounting-detail + visual-bom-plate.</a:t>
            </a:r>
          </a:p>
          <a:p>
            <a:pPr lvl="0"/>
            <a:r>
              <a:rPr/>
              <a:t>cad/ has OpenSCAD master + SolidWorks contract (CSV + plan).</a:t>
            </a:r>
          </a:p>
          <a:p>
            <a:pPr lvl="0"/>
            <a:r>
              <a:rPr/>
              <a:t>cnc/ has the frame-routing operation graph (no bar CNC).</a:t>
            </a:r>
          </a:p>
          <a:p>
            <a:pPr lvl="0"/>
            <a:r>
              <a:rPr/>
              <a:t>jigs/ collects pilot fixture artifacts.</a:t>
            </a:r>
          </a:p>
        </p:txBody>
      </p:sp>
      <p:pic>
        <p:nvPicPr>
          <p:cNvPr descr="drawings/GLK-C5-body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90600"/>
            <a:ext cx="5105400" cy="2298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drawing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drawing drawing drawing drawing drawing drawing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Validation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Pilot: cut C5, A5, C7 cut-long; mass-and-strike test; compute K_eff = f * L^2 / t.</a:t>
            </a:r>
          </a:p>
          <a:p>
            <a:pPr lvl="0"/>
            <a:r>
              <a:rPr/>
              <a:t>If pilot K_eff differs from workbook K by more than 5%, update family-spec.csv and workbook B21 before cutting remaining bars.</a:t>
            </a:r>
          </a:p>
          <a:p>
            <a:pPr lvl="0"/>
            <a:r>
              <a:rPr/>
              <a:t>Trim each bar to within +/- 10 cents (pilots) or +/- 5 cents (production) by symmetric end removal.</a:t>
            </a:r>
          </a:p>
          <a:p>
            <a:pPr lvl="0"/>
            <a:r>
              <a:rPr/>
              <a:t>Mount on prototype rig with three durometer grommets; pick the one that preserves &gt;= 75% of flat-bar sustain.</a:t>
            </a:r>
          </a:p>
          <a:p>
            <a:pPr lvl="0"/>
            <a:r>
              <a:rPr/>
              <a:t>Mount all bars on walnut frame; run final framed validation row.</a:t>
            </a:r>
          </a:p>
          <a:p>
            <a:pPr lvl="0"/>
            <a:r>
              <a:rPr/>
              <a:t>Cents error: cents = 1200 * log2(measured_hz / target_hz).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Risks /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Aluminum mill-lot K variance can shift pitch 5-10%; pilot calibrates per lot.</a:t>
            </a:r>
          </a:p>
          <a:p>
            <a:pPr lvl="0"/>
            <a:r>
              <a:rPr/>
              <a:t>Grommet durometer dominates sustain; pilot Shore 30A/50A/70A before standardizing.</a:t>
            </a:r>
          </a:p>
          <a:p>
            <a:pPr lvl="0"/>
            <a:r>
              <a:rPr/>
              <a:t>Striker hardness (brass / hard rubber / lexan) shifts timbre dramatically; ship at least two pairs.</a:t>
            </a:r>
          </a:p>
          <a:p>
            <a:pPr lvl="0"/>
            <a:r>
              <a:rPr/>
              <a:t>Frame ergonomics (bar reach, accidental row offset, transport) need full-size taped layout.</a:t>
            </a:r>
          </a:p>
          <a:p>
            <a:pPr lvl="0"/>
            <a:r>
              <a:rPr/>
              <a:t>Clear-coat finish on aluminum can shift pitch 3-10 cents flat; tune after finish or leave raw.</a:t>
            </a:r>
          </a:p>
          <a:p>
            <a:pPr lvl="0"/>
            <a:r>
              <a:rPr/>
              <a:t>Workbook K constants (B16-B20) are first-pass; recalibrate per lot from pilot data.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Next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Cut C5/A5/C7 pilot bars and measure K_eff.</a:t>
            </a:r>
          </a:p>
          <a:p>
            <a:pPr lvl="0"/>
            <a:r>
              <a:rPr/>
              <a:t>Pilot the three durometer grommets; pick one and record decision.</a:t>
            </a:r>
          </a:p>
          <a:p>
            <a:pPr lvl="0"/>
            <a:r>
              <a:rPr/>
              <a:t>CNC-route the walnut frame after K and durometer are confirmed.</a:t>
            </a:r>
          </a:p>
          <a:p>
            <a:pPr lvl="0"/>
            <a:r>
              <a:rPr/>
              <a:t>Cut the remaining 22 chromatic bars (or 7 pentatonic) using calibrated K.</a:t>
            </a:r>
          </a:p>
          <a:p>
            <a:pPr lvl="0"/>
            <a:r>
              <a:rPr/>
              <a:t>Assemble, validate, photograph, and update validation.csv.</a:t>
            </a:r>
          </a:p>
          <a:p>
            <a:pPr lvl="0"/>
            <a:r>
              <a:rPr/>
              <a:t>Replace TBDs with measured/source-backed values.</a:t>
            </a:r>
          </a:p>
          <a:p>
            <a:pPr lvl="0"/>
            <a:r>
              <a:rPr/>
              <a:t>Verify live supplier prices and availability before buying.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2026-05-08T08:58:36Z</dcterms:created>
  <dcterms:modified xsi:type="dcterms:W3CDTF">2026-05-08T08:58:36Z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